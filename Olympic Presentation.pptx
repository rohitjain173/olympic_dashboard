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5" r:id="rId2"/>
    <p:sldId id="276" r:id="rId3"/>
    <p:sldId id="270" r:id="rId4"/>
    <p:sldId id="277" r:id="rId5"/>
    <p:sldId id="279" r:id="rId6"/>
    <p:sldId id="282" r:id="rId7"/>
    <p:sldId id="283" r:id="rId8"/>
    <p:sldId id="284" r:id="rId9"/>
    <p:sldId id="27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59" autoAdjust="0"/>
    <p:restoredTop sz="94660"/>
  </p:normalViewPr>
  <p:slideViewPr>
    <p:cSldViewPr>
      <p:cViewPr varScale="1">
        <p:scale>
          <a:sx n="77" d="100"/>
          <a:sy n="77" d="100"/>
        </p:scale>
        <p:origin x="1666" y="5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05-05-2026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a:p>
        </p:txBody>
      </p:sp>
    </p:spTree>
    <p:extLst>
      <p:ext uri="{BB962C8B-B14F-4D97-AF65-F5344CB8AC3E}">
        <p14:creationId xmlns:p14="http://schemas.microsoft.com/office/powerpoint/2010/main" val="95613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2</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3</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4</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5</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6</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7</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8</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65508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56" y="0"/>
            <a:ext cx="9147855" cy="548680"/>
          </a:xfrm>
        </p:spPr>
        <p:txBody>
          <a:bodyPr>
            <a:normAutofit/>
          </a:bodyPr>
          <a:lstStyle>
            <a:lvl1pPr algn="l">
              <a:defRPr sz="2800" b="1"/>
            </a:lvl1pPr>
          </a:lstStyle>
          <a:p>
            <a:r>
              <a:rPr lang="en-US"/>
              <a:t>Click to edit Master title style</a:t>
            </a:r>
            <a:endParaRPr lang="en-IN"/>
          </a:p>
        </p:txBody>
      </p:sp>
      <p:sp>
        <p:nvSpPr>
          <p:cNvPr id="3"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a:xfrm>
            <a:off x="0" y="6492064"/>
            <a:ext cx="395064" cy="365125"/>
          </a:xfrm>
        </p:spPr>
        <p:txBody>
          <a:bodyPr/>
          <a:lstStyle>
            <a:lvl1pPr algn="ctr">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132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0553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9571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54691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61577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420485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96185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02927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707677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5308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a:t>Click to edit Master title style</a:t>
            </a:r>
            <a:endParaRPr lang="en-IN"/>
          </a:p>
        </p:txBody>
      </p:sp>
      <p:sp>
        <p:nvSpPr>
          <p:cNvPr id="3"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3888646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ink.springer.com/book/10.1007/978-3-031-15266-5" TargetMode="External"/><Relationship Id="rId7" Type="http://schemas.openxmlformats.org/officeDocument/2006/relationships/hyperlink" Target="https://www.microsoft.com/en-us/power-platform/products/power-bi"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youtube.com/@The-Developer-BI" TargetMode="External"/><Relationship Id="rId5" Type="http://schemas.openxmlformats.org/officeDocument/2006/relationships/hyperlink" Target="https://www.geeksforgeeks.org/data-analysis-tutorial/" TargetMode="External"/><Relationship Id="rId4" Type="http://schemas.openxmlformats.org/officeDocument/2006/relationships/hyperlink" Target="https://link.springer.com/referencework/10.1007/978-981-19-9438-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1556792"/>
            <a:ext cx="9001000" cy="1440159"/>
          </a:xfrm>
        </p:spPr>
        <p:txBody>
          <a:bodyPr>
            <a:normAutofit/>
          </a:bodyPr>
          <a:lstStyle/>
          <a:p>
            <a:pPr algn="l" fontAlgn="base">
              <a:spcAft>
                <a:spcPct val="0"/>
              </a:spcAft>
            </a:pPr>
            <a:r>
              <a:rPr lang="en-US" sz="2700" dirty="0">
                <a:ea typeface="Droid Sans Fallback"/>
                <a:cs typeface="Times New Roman" pitchFamily="18" charset="0"/>
              </a:rPr>
              <a:t>Olympic Dashboard</a:t>
            </a:r>
            <a:br>
              <a:rPr lang="en-US" sz="2700" dirty="0">
                <a:ea typeface="Droid Sans Fallback"/>
                <a:cs typeface="Times New Roman" pitchFamily="18" charset="0"/>
              </a:rPr>
            </a:br>
            <a:r>
              <a:rPr lang="en-US" sz="2700" dirty="0">
                <a:ea typeface="Droid Sans Fallback"/>
                <a:cs typeface="Times New Roman" pitchFamily="18" charset="0"/>
              </a:rPr>
              <a:t>Data Analytics and Visualization using Power BI </a:t>
            </a:r>
            <a:br>
              <a:rPr lang="en-US" sz="2000" dirty="0">
                <a:ea typeface="Droid Sans Fallback"/>
                <a:cs typeface="Times New Roman" pitchFamily="18" charset="0"/>
              </a:rPr>
            </a:br>
            <a:endParaRPr lang="en-IN" sz="2000" dirty="0"/>
          </a:p>
        </p:txBody>
      </p:sp>
      <p:sp>
        <p:nvSpPr>
          <p:cNvPr id="4" name="TextBox 3">
            <a:extLst>
              <a:ext uri="{FF2B5EF4-FFF2-40B4-BE49-F238E27FC236}">
                <a16:creationId xmlns:a16="http://schemas.microsoft.com/office/drawing/2014/main" id="{E5263F5A-FE4B-E1C2-EAD7-AE155F3CC7C0}"/>
              </a:ext>
            </a:extLst>
          </p:cNvPr>
          <p:cNvSpPr txBox="1"/>
          <p:nvPr/>
        </p:nvSpPr>
        <p:spPr>
          <a:xfrm>
            <a:off x="251520" y="2996951"/>
            <a:ext cx="4536504" cy="830997"/>
          </a:xfrm>
          <a:prstGeom prst="rect">
            <a:avLst/>
          </a:prstGeom>
          <a:noFill/>
        </p:spPr>
        <p:txBody>
          <a:bodyPr wrap="square" rtlCol="0">
            <a:spAutoFit/>
          </a:bodyPr>
          <a:lstStyle/>
          <a:p>
            <a:r>
              <a:rPr lang="en-US" sz="2400" dirty="0">
                <a:cs typeface="Arial" panose="020B0604020202020204" pitchFamily="34" charset="0"/>
              </a:rPr>
              <a:t>Presented by:</a:t>
            </a:r>
          </a:p>
          <a:p>
            <a:r>
              <a:rPr lang="en-US" sz="2400" dirty="0">
                <a:cs typeface="Arial" panose="020B0604020202020204" pitchFamily="34" charset="0"/>
              </a:rPr>
              <a:t>Rohit Jain</a:t>
            </a:r>
            <a:endParaRPr lang="en-IN" sz="2400" dirty="0">
              <a:cs typeface="Arial" panose="020B0604020202020204" pitchFamily="34" charset="0"/>
            </a:endParaRPr>
          </a:p>
        </p:txBody>
      </p:sp>
    </p:spTree>
    <p:extLst>
      <p:ext uri="{BB962C8B-B14F-4D97-AF65-F5344CB8AC3E}">
        <p14:creationId xmlns:p14="http://schemas.microsoft.com/office/powerpoint/2010/main" val="3644287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35496" y="1102043"/>
            <a:ext cx="8784976" cy="4127158"/>
          </a:xfrm>
        </p:spPr>
        <p:txBody>
          <a:bodyPr>
            <a:normAutofit/>
          </a:bodyPr>
          <a:lstStyle/>
          <a:p>
            <a:pPr marL="0" indent="0" algn="just">
              <a:buNone/>
            </a:pPr>
            <a:r>
              <a:rPr lang="en-US" sz="2000" dirty="0"/>
              <a:t>Data Analytics and Visualization using Power BI involves utilizing Microsoft’s robust business intelligence tool to analyze, visualize and share insights from data. Power BI connects to various data sources, such as Excel, SQL databases, cloud services, and APIs, allowing seamless integration and aggregation. It offers powerful tools for cleaning and transforming data through Power Query, enabling users to shape datasets for analysis. With its data modeling capabilities, users can establish relationships between tables, create calculated columns and use DAX (Data Analysis Expressions) to derive meaningful insights.</a:t>
            </a:r>
          </a:p>
          <a:p>
            <a:pPr marL="0" indent="0" algn="just">
              <a:buNone/>
            </a:pPr>
            <a:endParaRPr lang="en-US" sz="2000"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2</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dirty="0"/>
              <a:t>Project Brief</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2</a:t>
            </a:fld>
            <a:endParaRPr lang="en-IN" dirty="0">
              <a:solidFill>
                <a:schemeClr val="bg1"/>
              </a:solidFill>
            </a:endParaRPr>
          </a:p>
        </p:txBody>
      </p:sp>
    </p:spTree>
    <p:extLst>
      <p:ext uri="{BB962C8B-B14F-4D97-AF65-F5344CB8AC3E}">
        <p14:creationId xmlns:p14="http://schemas.microsoft.com/office/powerpoint/2010/main" val="1809597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0" y="914400"/>
            <a:ext cx="9144000" cy="5250904"/>
          </a:xfrm>
        </p:spPr>
        <p:txBody>
          <a:bodyPr>
            <a:normAutofit/>
          </a:bodyPr>
          <a:lstStyle/>
          <a:p>
            <a:pPr marL="0" indent="0">
              <a:buNone/>
            </a:pPr>
            <a:r>
              <a:rPr lang="en-US" b="1" dirty="0"/>
              <a:t>Technologies to be used:</a:t>
            </a:r>
          </a:p>
          <a:p>
            <a:pPr marL="0" indent="0">
              <a:buNone/>
            </a:pPr>
            <a:r>
              <a:rPr lang="en-US" dirty="0"/>
              <a:t>	Power BI Desktop Power Query </a:t>
            </a:r>
          </a:p>
          <a:p>
            <a:pPr marL="0" indent="0">
              <a:buNone/>
            </a:pPr>
            <a:r>
              <a:rPr lang="en-US" dirty="0"/>
              <a:t>	Standard laptop or desktop computer </a:t>
            </a:r>
          </a:p>
          <a:p>
            <a:pPr marL="0" indent="0">
              <a:buNone/>
            </a:pPr>
            <a:r>
              <a:rPr lang="en-US" dirty="0"/>
              <a:t>	Internet connection for cloud collaboration </a:t>
            </a:r>
          </a:p>
          <a:p>
            <a:pPr marL="0" indent="0">
              <a:buNone/>
            </a:pPr>
            <a:endParaRPr lang="en-US" dirty="0"/>
          </a:p>
          <a:p>
            <a:pPr marL="0" indent="0">
              <a:buNone/>
            </a:pPr>
            <a:r>
              <a:rPr lang="en-US" b="1" dirty="0"/>
              <a:t>Tools Power BI :</a:t>
            </a:r>
          </a:p>
          <a:p>
            <a:pPr marL="0" indent="0">
              <a:buNone/>
            </a:pPr>
            <a:r>
              <a:rPr lang="en-US" dirty="0"/>
              <a:t>	Microsoft Excel (for data pre-processing) </a:t>
            </a:r>
          </a:p>
          <a:p>
            <a:pPr marL="0" indent="0">
              <a:buNone/>
            </a:pPr>
            <a:r>
              <a:rPr lang="en-US" dirty="0"/>
              <a:t>	SQL (if required for database connection) </a:t>
            </a:r>
          </a:p>
          <a:p>
            <a:pPr marL="0" indent="0">
              <a:buNone/>
            </a:pPr>
            <a:r>
              <a:rPr lang="en-US" dirty="0"/>
              <a:t>	</a:t>
            </a:r>
            <a:r>
              <a:rPr lang="en-US" dirty="0" err="1"/>
              <a:t>Jupyter</a:t>
            </a:r>
            <a:r>
              <a:rPr lang="en-US" dirty="0"/>
              <a:t> Notebook</a:t>
            </a: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3</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chemeClr val="bg1"/>
                </a:solidFill>
                <a:latin typeface="Calibri" pitchFamily="34" charset="0"/>
                <a:ea typeface="ＭＳ Ｐゴシック" pitchFamily="-28" charset="-128"/>
              </a:rPr>
              <a:t>Technologies/ Tools to be used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3</a:t>
            </a:fld>
            <a:endParaRPr lang="en-IN" dirty="0">
              <a:solidFill>
                <a:schemeClr val="bg1"/>
              </a:solidFill>
            </a:endParaRPr>
          </a:p>
        </p:txBody>
      </p:sp>
    </p:spTree>
    <p:extLst>
      <p:ext uri="{BB962C8B-B14F-4D97-AF65-F5344CB8AC3E}">
        <p14:creationId xmlns:p14="http://schemas.microsoft.com/office/powerpoint/2010/main" val="2843790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4</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1" dirty="0">
                <a:solidFill>
                  <a:schemeClr val="bg1"/>
                </a:solidFill>
                <a:latin typeface="Calibri" pitchFamily="34" charset="0"/>
                <a:ea typeface="ＭＳ Ｐゴシック" pitchFamily="-28" charset="-128"/>
              </a:rPr>
              <a:t>Context Diagram (Overall Project)</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4</a:t>
            </a:fld>
            <a:endParaRPr lang="en-IN" dirty="0">
              <a:solidFill>
                <a:schemeClr val="bg1"/>
              </a:solidFill>
            </a:endParaRPr>
          </a:p>
        </p:txBody>
      </p:sp>
      <p:pic>
        <p:nvPicPr>
          <p:cNvPr id="4" name="Content Placeholder 3">
            <a:extLst>
              <a:ext uri="{FF2B5EF4-FFF2-40B4-BE49-F238E27FC236}">
                <a16:creationId xmlns:a16="http://schemas.microsoft.com/office/drawing/2014/main" id="{C45FC378-8421-2C7D-E89B-7E0BF8920C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7072" y="1124744"/>
            <a:ext cx="8353400" cy="4759554"/>
          </a:xfrm>
          <a:prstGeom prst="rect">
            <a:avLst/>
          </a:prstGeom>
        </p:spPr>
      </p:pic>
    </p:spTree>
    <p:extLst>
      <p:ext uri="{BB962C8B-B14F-4D97-AF65-F5344CB8AC3E}">
        <p14:creationId xmlns:p14="http://schemas.microsoft.com/office/powerpoint/2010/main" val="3429915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5</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chemeClr val="bg1"/>
                </a:solidFill>
                <a:latin typeface="Calibri" pitchFamily="34" charset="0"/>
                <a:ea typeface="ＭＳ Ｐゴシック" pitchFamily="-28" charset="-128"/>
              </a:rPr>
              <a:t>Data Flow Diagram (DFD)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5</a:t>
            </a:fld>
            <a:endParaRPr lang="en-IN" dirty="0">
              <a:solidFill>
                <a:schemeClr val="bg1"/>
              </a:solidFill>
            </a:endParaRPr>
          </a:p>
        </p:txBody>
      </p:sp>
      <p:pic>
        <p:nvPicPr>
          <p:cNvPr id="4" name="Content Placeholder 3">
            <a:extLst>
              <a:ext uri="{FF2B5EF4-FFF2-40B4-BE49-F238E27FC236}">
                <a16:creationId xmlns:a16="http://schemas.microsoft.com/office/drawing/2014/main" id="{EEE00E6A-215C-EFA8-CAC6-923FAA6248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4747" y="1241160"/>
            <a:ext cx="8821719" cy="4576680"/>
          </a:xfrm>
          <a:prstGeom prst="rect">
            <a:avLst/>
          </a:prstGeom>
        </p:spPr>
      </p:pic>
    </p:spTree>
    <p:extLst>
      <p:ext uri="{BB962C8B-B14F-4D97-AF65-F5344CB8AC3E}">
        <p14:creationId xmlns:p14="http://schemas.microsoft.com/office/powerpoint/2010/main" val="342991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6</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chemeClr val="bg1"/>
                </a:solidFill>
                <a:latin typeface="Calibri" pitchFamily="34" charset="0"/>
                <a:ea typeface="ＭＳ Ｐゴシック" pitchFamily="-28" charset="-128"/>
              </a:rPr>
              <a:t>Use Case Diagram</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6</a:t>
            </a:fld>
            <a:endParaRPr lang="en-IN" dirty="0">
              <a:solidFill>
                <a:schemeClr val="bg1"/>
              </a:solidFill>
            </a:endParaRPr>
          </a:p>
        </p:txBody>
      </p:sp>
      <p:pic>
        <p:nvPicPr>
          <p:cNvPr id="4" name="Content Placeholder 3">
            <a:extLst>
              <a:ext uri="{FF2B5EF4-FFF2-40B4-BE49-F238E27FC236}">
                <a16:creationId xmlns:a16="http://schemas.microsoft.com/office/drawing/2014/main" id="{636DE13D-A7A8-1992-17C0-2BCA258544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7544" y="1190456"/>
            <a:ext cx="8146372" cy="4542800"/>
          </a:xfrm>
          <a:prstGeom prst="rect">
            <a:avLst/>
          </a:prstGeom>
        </p:spPr>
      </p:pic>
    </p:spTree>
    <p:extLst>
      <p:ext uri="{BB962C8B-B14F-4D97-AF65-F5344CB8AC3E}">
        <p14:creationId xmlns:p14="http://schemas.microsoft.com/office/powerpoint/2010/main" val="2737135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a:t>
            </a:r>
          </a:p>
        </p:txBody>
      </p:sp>
      <p:sp>
        <p:nvSpPr>
          <p:cNvPr id="5" name="Content Placeholder 4"/>
          <p:cNvSpPr>
            <a:spLocks noGrp="1"/>
          </p:cNvSpPr>
          <p:nvPr>
            <p:ph idx="1"/>
          </p:nvPr>
        </p:nvSpPr>
        <p:spPr>
          <a:xfrm>
            <a:off x="179512" y="1297233"/>
            <a:ext cx="8497416" cy="4652047"/>
          </a:xfrm>
        </p:spPr>
        <p:txBody>
          <a:bodyPr>
            <a:normAutofit lnSpcReduction="10000"/>
          </a:bodyPr>
          <a:lstStyle/>
          <a:p>
            <a:pPr marL="342900" marR="0" lvl="0" indent="-342900" algn="just">
              <a:lnSpc>
                <a:spcPct val="105000"/>
              </a:lnSpc>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Real-Time Insights: Instantly track metrics and respond quickly to changes.  </a:t>
            </a:r>
            <a:endParaRPr lang="en-US" sz="22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Predictive Analytics: Forecast future trends using AI and machine learning.  </a:t>
            </a:r>
            <a:endParaRPr lang="en-US" sz="22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Automation and Integration: Streamline workflows and connect with other tools seamlessly.  </a:t>
            </a:r>
            <a:endParaRPr lang="en-US" sz="22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Custom AI-Powered Insights: Uncover hidden patterns with advanced AI features.  </a:t>
            </a:r>
            <a:endParaRPr lang="en-US" sz="2200" dirty="0">
              <a:effectLst/>
              <a:latin typeface="Calibri" panose="020F0502020204030204" pitchFamily="34" charset="0"/>
              <a:ea typeface="Droid Sans Fallback"/>
            </a:endParaRPr>
          </a:p>
          <a:p>
            <a:pPr marL="342900" marR="0" lvl="0" indent="-342900" algn="just">
              <a:lnSpc>
                <a:spcPct val="105000"/>
              </a:lnSpc>
              <a:spcAft>
                <a:spcPts val="800"/>
              </a:spcAft>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Scalable for Big Data: Efficiently manage large datasets with cloud-based solutions.  </a:t>
            </a:r>
          </a:p>
          <a:p>
            <a:pPr algn="just">
              <a:lnSpc>
                <a:spcPct val="105000"/>
              </a:lnSpc>
              <a:spcAft>
                <a:spcPts val="800"/>
              </a:spcAft>
              <a:buFont typeface="Symbol" panose="05050102010706020507" pitchFamily="18" charset="2"/>
              <a:buChar char=""/>
            </a:pPr>
            <a:r>
              <a:rPr lang="en-US" sz="2200" dirty="0">
                <a:effectLst/>
                <a:latin typeface="Calibri" panose="020F0502020204030204" pitchFamily="34" charset="0"/>
                <a:ea typeface="Times New Roman" panose="02020603050405020304" pitchFamily="18" charset="0"/>
                <a:cs typeface="Calibri" panose="020F0502020204030204" pitchFamily="34" charset="0"/>
              </a:rPr>
              <a:t>Enhanced Security and Compliance: Protect sensitive data with role-based access and compliance tools.</a:t>
            </a:r>
            <a:endParaRPr lang="en-US" sz="2200" dirty="0">
              <a:effectLst/>
              <a:latin typeface="Calibri" panose="020F0502020204030204" pitchFamily="34" charset="0"/>
              <a:ea typeface="Droid Sans Fallback"/>
            </a:endParaRPr>
          </a:p>
          <a:p>
            <a:pPr marL="0" marR="0" lvl="0" indent="0" algn="just">
              <a:lnSpc>
                <a:spcPct val="105000"/>
              </a:lnSpc>
              <a:spcAft>
                <a:spcPts val="800"/>
              </a:spcAft>
              <a:buNone/>
            </a:pPr>
            <a:endParaRPr lang="en-US" sz="2200" dirty="0">
              <a:effectLst/>
              <a:latin typeface="Calibri" panose="020F0502020204030204" pitchFamily="34" charset="0"/>
              <a:ea typeface="Droid Sans Fallback"/>
            </a:endParaRPr>
          </a:p>
          <a:p>
            <a:pPr marL="0" indent="0">
              <a:buNone/>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7</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chemeClr val="bg1"/>
                </a:solidFill>
                <a:latin typeface="Calibri" pitchFamily="34" charset="0"/>
                <a:ea typeface="ＭＳ Ｐゴシック" pitchFamily="-28" charset="-128"/>
              </a:rPr>
              <a:t>Advantage of The Project</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7</a:t>
            </a:fld>
            <a:endParaRPr lang="en-IN" dirty="0">
              <a:solidFill>
                <a:schemeClr val="bg1"/>
              </a:solidFill>
            </a:endParaRPr>
          </a:p>
        </p:txBody>
      </p:sp>
    </p:spTree>
    <p:extLst>
      <p:ext uri="{BB962C8B-B14F-4D97-AF65-F5344CB8AC3E}">
        <p14:creationId xmlns:p14="http://schemas.microsoft.com/office/powerpoint/2010/main" val="258564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755576" y="1412776"/>
            <a:ext cx="7344816" cy="3672408"/>
          </a:xfrm>
        </p:spPr>
        <p:txBody>
          <a:bodyPr>
            <a:normAutofit/>
          </a:bodyPr>
          <a:lstStyle/>
          <a:p>
            <a:pPr marL="342900" marR="0" lvl="0" indent="-342900" algn="just">
              <a:lnSpc>
                <a:spcPct val="105000"/>
              </a:lnSpc>
              <a:buFont typeface="Symbol" panose="05050102010706020507" pitchFamily="18" charset="2"/>
              <a:buChar char=""/>
            </a:pPr>
            <a:r>
              <a:rPr lang="en-US" sz="1800" u="sng" dirty="0">
                <a:solidFill>
                  <a:srgbClr val="0563C1"/>
                </a:solidFill>
                <a:effectLst/>
                <a:latin typeface="Calibri" panose="020F0502020204030204" pitchFamily="34" charset="0"/>
                <a:ea typeface="Droid Sans Fallback"/>
                <a:hlinkClick r:id="rId3"/>
              </a:rPr>
              <a:t>https://link.springer.com/book/10.1007/978-3-031-15266-5</a:t>
            </a:r>
            <a:endParaRPr lang="en-US" sz="1800" dirty="0">
              <a:effectLst/>
              <a:latin typeface="Calibri" panose="020F0502020204030204" pitchFamily="34" charset="0"/>
              <a:ea typeface="Droid Sans Fallback"/>
            </a:endParaRPr>
          </a:p>
          <a:p>
            <a:pPr marL="114300" marR="0" indent="0" algn="just">
              <a:lnSpc>
                <a:spcPct val="105000"/>
              </a:lnSpc>
              <a:buNone/>
            </a:pPr>
            <a:endParaRPr lang="en-US" sz="18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1800" u="sng" dirty="0">
                <a:solidFill>
                  <a:srgbClr val="0563C1"/>
                </a:solidFill>
                <a:effectLst/>
                <a:latin typeface="Calibri" panose="020F0502020204030204" pitchFamily="34" charset="0"/>
                <a:ea typeface="Droid Sans Fallback"/>
                <a:hlinkClick r:id="rId4"/>
              </a:rPr>
              <a:t>https://link.springer.com/referencework/10.1007/978-981-19-9438-8</a:t>
            </a:r>
            <a:endParaRPr lang="en-US" sz="1800" dirty="0">
              <a:effectLst/>
              <a:latin typeface="Calibri" panose="020F0502020204030204" pitchFamily="34" charset="0"/>
              <a:ea typeface="Droid Sans Fallback"/>
            </a:endParaRPr>
          </a:p>
          <a:p>
            <a:pPr marL="114300" marR="0" indent="0">
              <a:lnSpc>
                <a:spcPct val="105000"/>
              </a:lnSpc>
              <a:buNone/>
            </a:pPr>
            <a:endParaRPr lang="en-US" sz="18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1800" u="sng" dirty="0">
                <a:solidFill>
                  <a:srgbClr val="0563C1"/>
                </a:solidFill>
                <a:effectLst/>
                <a:latin typeface="Calibri" panose="020F0502020204030204" pitchFamily="34" charset="0"/>
                <a:ea typeface="Droid Sans Fallback"/>
                <a:hlinkClick r:id="rId5"/>
              </a:rPr>
              <a:t>https://www.geeksforgeeks.org/data-analysis-tutorial/</a:t>
            </a:r>
            <a:endParaRPr lang="en-US" sz="1800" dirty="0">
              <a:effectLst/>
              <a:latin typeface="Calibri" panose="020F0502020204030204" pitchFamily="34" charset="0"/>
              <a:ea typeface="Droid Sans Fallback"/>
            </a:endParaRPr>
          </a:p>
          <a:p>
            <a:pPr marL="114300" marR="0" indent="0" algn="just">
              <a:lnSpc>
                <a:spcPct val="105000"/>
              </a:lnSpc>
              <a:buNone/>
            </a:pPr>
            <a:endParaRPr lang="en-US" sz="1800" dirty="0">
              <a:effectLst/>
              <a:latin typeface="Calibri" panose="020F0502020204030204" pitchFamily="34" charset="0"/>
              <a:ea typeface="Droid Sans Fallback"/>
            </a:endParaRPr>
          </a:p>
          <a:p>
            <a:pPr marL="342900" marR="0" lvl="0" indent="-342900" algn="just">
              <a:lnSpc>
                <a:spcPct val="105000"/>
              </a:lnSpc>
              <a:buFont typeface="Symbol" panose="05050102010706020507" pitchFamily="18" charset="2"/>
              <a:buChar char=""/>
            </a:pPr>
            <a:r>
              <a:rPr lang="en-US" sz="1800" u="sng" dirty="0">
                <a:solidFill>
                  <a:srgbClr val="0563C1"/>
                </a:solidFill>
                <a:effectLst/>
                <a:latin typeface="Calibri" panose="020F0502020204030204" pitchFamily="34" charset="0"/>
                <a:ea typeface="Droid Sans Fallback"/>
                <a:hlinkClick r:id="rId6"/>
              </a:rPr>
              <a:t>https://www.youtube.com/@The-Developer-BI</a:t>
            </a:r>
            <a:endParaRPr lang="en-US" sz="1800" dirty="0">
              <a:effectLst/>
              <a:latin typeface="Calibri" panose="020F0502020204030204" pitchFamily="34" charset="0"/>
              <a:ea typeface="Droid Sans Fallback"/>
            </a:endParaRPr>
          </a:p>
          <a:p>
            <a:pPr marL="114300" marR="0" indent="0">
              <a:lnSpc>
                <a:spcPct val="105000"/>
              </a:lnSpc>
              <a:buNone/>
            </a:pPr>
            <a:endParaRPr lang="en-US" sz="1800" dirty="0">
              <a:effectLst/>
              <a:latin typeface="Calibri" panose="020F0502020204030204" pitchFamily="34" charset="0"/>
              <a:ea typeface="Droid Sans Fallback"/>
            </a:endParaRPr>
          </a:p>
          <a:p>
            <a:pPr marL="342900" marR="0" lvl="0" indent="-342900" algn="just">
              <a:lnSpc>
                <a:spcPct val="105000"/>
              </a:lnSpc>
              <a:spcAft>
                <a:spcPts val="800"/>
              </a:spcAft>
              <a:buFont typeface="Symbol" panose="05050102010706020507" pitchFamily="18" charset="2"/>
              <a:buChar char=""/>
            </a:pPr>
            <a:r>
              <a:rPr lang="en-US" sz="1800" u="sng" dirty="0">
                <a:solidFill>
                  <a:srgbClr val="0563C1"/>
                </a:solidFill>
                <a:effectLst/>
                <a:latin typeface="Calibri" panose="020F0502020204030204" pitchFamily="34" charset="0"/>
                <a:ea typeface="Droid Sans Fallback"/>
                <a:hlinkClick r:id="rId7"/>
              </a:rPr>
              <a:t>https://www.microsoft.com/en-us/power-platform/products/power-bi</a:t>
            </a:r>
            <a:endParaRPr lang="en-US" sz="1800" dirty="0">
              <a:effectLst/>
              <a:latin typeface="Calibri" panose="020F0502020204030204" pitchFamily="34" charset="0"/>
              <a:ea typeface="Droid Sans Fallback"/>
            </a:endParaRPr>
          </a:p>
          <a:p>
            <a:pPr marL="0" indent="0">
              <a:buNone/>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8</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chemeClr val="bg1"/>
                </a:solidFill>
                <a:latin typeface="Calibri" pitchFamily="34" charset="0"/>
                <a:ea typeface="ＭＳ Ｐゴシック" pitchFamily="-28" charset="-128"/>
              </a:rPr>
              <a:t>References, if any</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8</a:t>
            </a:fld>
            <a:endParaRPr lang="en-IN" dirty="0">
              <a:solidFill>
                <a:schemeClr val="bg1"/>
              </a:solidFill>
            </a:endParaRPr>
          </a:p>
        </p:txBody>
      </p:sp>
    </p:spTree>
    <p:extLst>
      <p:ext uri="{BB962C8B-B14F-4D97-AF65-F5344CB8AC3E}">
        <p14:creationId xmlns:p14="http://schemas.microsoft.com/office/powerpoint/2010/main" val="258564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a:t>THANK YOU</a:t>
            </a:r>
          </a:p>
        </p:txBody>
      </p:sp>
    </p:spTree>
    <p:extLst>
      <p:ext uri="{BB962C8B-B14F-4D97-AF65-F5344CB8AC3E}">
        <p14:creationId xmlns:p14="http://schemas.microsoft.com/office/powerpoint/2010/main" val="4040718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2711</TotalTime>
  <Words>352</Words>
  <Application>Microsoft Office PowerPoint</Application>
  <PresentationFormat>On-screen Show (4:3)</PresentationFormat>
  <Paragraphs>58</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Droid Sans Fallback</vt:lpstr>
      <vt:lpstr>Symbol</vt:lpstr>
      <vt:lpstr>Office Theme</vt:lpstr>
      <vt:lpstr>Olympic Dashboard Data Analytics and Visualization using Power BI  </vt:lpstr>
      <vt:lpstr>PowerPoint Presentation</vt:lpstr>
      <vt:lpstr>PowerPoint Presentation</vt:lpstr>
      <vt:lpstr>PowerPoint Presentation</vt:lpstr>
      <vt:lpstr>PowerPoint Presentation</vt:lpstr>
      <vt:lpstr>PowerPoint Presentation</vt:lpstr>
      <vt:lpstr>\</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Rohit Jain</cp:lastModifiedBy>
  <cp:revision>104</cp:revision>
  <dcterms:created xsi:type="dcterms:W3CDTF">2016-07-30T14:16:51Z</dcterms:created>
  <dcterms:modified xsi:type="dcterms:W3CDTF">2026-05-05T08:55:36Z</dcterms:modified>
</cp:coreProperties>
</file>